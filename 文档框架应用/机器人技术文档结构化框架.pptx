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70" r:id="rId4"/>
    <p:sldId id="258" r:id="rId5"/>
    <p:sldId id="275" r:id="rId6"/>
    <p:sldId id="274" r:id="rId7"/>
    <p:sldId id="276" r:id="rId8"/>
    <p:sldId id="261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9" autoAdjust="0"/>
    <p:restoredTop sz="94625" autoAdjust="0"/>
  </p:normalViewPr>
  <p:slideViewPr>
    <p:cSldViewPr snapToGrid="0">
      <p:cViewPr varScale="1">
        <p:scale>
          <a:sx n="10" d="100"/>
          <a:sy n="10" d="100"/>
        </p:scale>
        <p:origin x="-197" y="3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16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188087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896000" y="1476155"/>
            <a:ext cx="5936400" cy="2055445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5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4896000" y="3888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8"/>
            </p:custDataLst>
          </p:nvPr>
        </p:nvSpPr>
        <p:spPr>
          <a:xfrm>
            <a:off x="8209504" y="5504400"/>
            <a:ext cx="25668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853760" y="5504400"/>
            <a:ext cx="21636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2233477" y="3106297"/>
            <a:ext cx="7725045" cy="1159200"/>
          </a:xfrm>
        </p:spPr>
        <p:txBody>
          <a:bodyPr wrap="square" lIns="90000" tIns="46800" rIns="90000" bIns="46800" anchor="t">
            <a:normAutofit/>
          </a:bodyPr>
          <a:lstStyle>
            <a:lvl1pPr algn="ctr">
              <a:defRPr sz="5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3513000" y="1376507"/>
            <a:ext cx="5166000" cy="1602000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ctr">
              <a:buNone/>
              <a:defRPr sz="6000" b="1">
                <a:ln w="1587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896000" y="1692000"/>
            <a:ext cx="5936400" cy="18252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896000" y="3816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8219870" y="5616000"/>
            <a:ext cx="25668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5793470" y="5616000"/>
            <a:ext cx="21636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 flipH="1">
            <a:off x="695960" y="185497"/>
            <a:ext cx="11491926" cy="1032510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5.xml"/><Relationship Id="rId5" Type="http://schemas.openxmlformats.org/officeDocument/2006/relationships/image" Target="../media/image1.png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image" Target="../media/image2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07.xml"/><Relationship Id="rId11" Type="http://schemas.openxmlformats.org/officeDocument/2006/relationships/image" Target="../media/image4.png"/><Relationship Id="rId10" Type="http://schemas.openxmlformats.org/officeDocument/2006/relationships/tags" Target="../tags/tag106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616960" y="2103120"/>
            <a:ext cx="7526020" cy="1236345"/>
          </a:xfrm>
        </p:spPr>
        <p:txBody>
          <a:bodyPr>
            <a:normAutofit fontScale="90000"/>
          </a:bodyPr>
          <a:lstStyle/>
          <a:p>
            <a:r>
              <a:rPr lang="zh-CN" altLang="en-US" sz="5335"/>
              <a:t>用结构化思维</a:t>
            </a:r>
            <a:br>
              <a:rPr lang="zh-CN" altLang="en-US" sz="5335"/>
            </a:br>
            <a:r>
              <a:rPr lang="zh-CN" altLang="en-US" sz="5335"/>
              <a:t>为复杂机器人产品构建</a:t>
            </a:r>
            <a:br>
              <a:rPr lang="zh-CN" altLang="en-US" sz="5335"/>
            </a:br>
            <a:r>
              <a:rPr lang="zh-CN" altLang="en-US" sz="5335"/>
              <a:t>“可传承的知识体系”</a:t>
            </a:r>
            <a:endParaRPr lang="zh-CN" altLang="en-US" sz="5335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5850" y="3888105"/>
            <a:ext cx="6247130" cy="720090"/>
          </a:xfrm>
        </p:spPr>
        <p:txBody>
          <a:bodyPr>
            <a:normAutofit fontScale="70000"/>
          </a:bodyPr>
          <a:lstStyle/>
          <a:p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一个适用于灵巧手等前沿硬件的文档与知识管理框架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专注于解决复杂系统信息整合问题的项目协作者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5753430" y="5401530"/>
            <a:ext cx="2163600" cy="739382"/>
          </a:xfrm>
        </p:spPr>
        <p:txBody>
          <a:bodyPr/>
          <a:lstStyle/>
          <a:p>
            <a:pPr algn="r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汇报人：刘世美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联系方式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576105" y="5401370"/>
            <a:ext cx="2566800" cy="655491"/>
          </a:xfrm>
          <a:prstGeom prst="rect">
            <a:avLst/>
          </a:prstGeom>
        </p:spPr>
        <p:txBody>
          <a:bodyPr vert="horz" wrap="square" lIns="90000" tIns="46800" rIns="90000" bIns="46800" rtlCol="0" anchor="t">
            <a:normAutofit fontScale="80000"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电话：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18879572768</a:t>
            </a:r>
            <a:b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qq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578649772@qq.com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0800" y="511200"/>
            <a:ext cx="2174400" cy="14040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56000" y="226800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01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192400" y="229064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挑战与核心洞察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序号"/>
          <p:cNvSpPr txBox="1"/>
          <p:nvPr>
            <p:custDataLst>
              <p:tags r:id="rId4"/>
            </p:custDataLst>
          </p:nvPr>
        </p:nvSpPr>
        <p:spPr>
          <a:xfrm>
            <a:off x="756000" y="3236587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02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34" name="项标题"/>
          <p:cNvSpPr txBox="1"/>
          <p:nvPr>
            <p:custDataLst>
              <p:tags r:id="rId5"/>
            </p:custDataLst>
          </p:nvPr>
        </p:nvSpPr>
        <p:spPr>
          <a:xfrm>
            <a:off x="2192400" y="3259227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解决方案总览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6"/>
            </p:custDataLst>
          </p:nvPr>
        </p:nvSpPr>
        <p:spPr>
          <a:xfrm>
            <a:off x="756000" y="4205174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03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7"/>
            </p:custDataLst>
          </p:nvPr>
        </p:nvSpPr>
        <p:spPr>
          <a:xfrm>
            <a:off x="2192655" y="4227830"/>
            <a:ext cx="6102350" cy="78486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核心武器：术语分层定义体系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" name="序号"/>
          <p:cNvSpPr txBox="1"/>
          <p:nvPr>
            <p:custDataLst>
              <p:tags r:id="rId8"/>
            </p:custDataLst>
          </p:nvPr>
        </p:nvSpPr>
        <p:spPr>
          <a:xfrm>
            <a:off x="756000" y="517376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04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10" name="项标题"/>
          <p:cNvSpPr txBox="1"/>
          <p:nvPr>
            <p:custDataLst>
              <p:tags r:id="rId9"/>
            </p:custDataLst>
          </p:nvPr>
        </p:nvSpPr>
        <p:spPr>
          <a:xfrm>
            <a:off x="2192400" y="519640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与灵巧手项目的关联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任意多边形: 形状 1"/>
          <p:cNvSpPr/>
          <p:nvPr>
            <p:custDataLst>
              <p:tags r:id="rId10"/>
            </p:custDataLst>
          </p:nvPr>
        </p:nvSpPr>
        <p:spPr>
          <a:xfrm>
            <a:off x="3044662" y="1003894"/>
            <a:ext cx="3777444" cy="536451"/>
          </a:xfrm>
          <a:custGeom>
            <a:avLst/>
            <a:gdLst>
              <a:gd name="connsiteX0" fmla="*/ 703511 w 3777444"/>
              <a:gd name="connsiteY0" fmla="*/ 95771 h 536451"/>
              <a:gd name="connsiteX1" fmla="*/ 601210 w 3777444"/>
              <a:gd name="connsiteY1" fmla="*/ 143991 h 536451"/>
              <a:gd name="connsiteX2" fmla="*/ 563873 w 3777444"/>
              <a:gd name="connsiteY2" fmla="*/ 268895 h 536451"/>
              <a:gd name="connsiteX3" fmla="*/ 600373 w 3777444"/>
              <a:gd name="connsiteY3" fmla="*/ 392627 h 536451"/>
              <a:gd name="connsiteX4" fmla="*/ 700497 w 3777444"/>
              <a:gd name="connsiteY4" fmla="*/ 440680 h 536451"/>
              <a:gd name="connsiteX5" fmla="*/ 801625 w 3777444"/>
              <a:gd name="connsiteY5" fmla="*/ 394636 h 536451"/>
              <a:gd name="connsiteX6" fmla="*/ 837791 w 3777444"/>
              <a:gd name="connsiteY6" fmla="*/ 270904 h 536451"/>
              <a:gd name="connsiteX7" fmla="*/ 802630 w 3777444"/>
              <a:gd name="connsiteY7" fmla="*/ 142819 h 536451"/>
              <a:gd name="connsiteX8" fmla="*/ 703511 w 3777444"/>
              <a:gd name="connsiteY8" fmla="*/ 95771 h 536451"/>
              <a:gd name="connsiteX9" fmla="*/ 2974777 w 3777444"/>
              <a:gd name="connsiteY9" fmla="*/ 8706 h 536451"/>
              <a:gd name="connsiteX10" fmla="*/ 3381301 w 3777444"/>
              <a:gd name="connsiteY10" fmla="*/ 8706 h 536451"/>
              <a:gd name="connsiteX11" fmla="*/ 3381301 w 3777444"/>
              <a:gd name="connsiteY11" fmla="*/ 99119 h 536451"/>
              <a:gd name="connsiteX12" fmla="*/ 3233291 w 3777444"/>
              <a:gd name="connsiteY12" fmla="*/ 99119 h 536451"/>
              <a:gd name="connsiteX13" fmla="*/ 3233291 w 3777444"/>
              <a:gd name="connsiteY13" fmla="*/ 527410 h 536451"/>
              <a:gd name="connsiteX14" fmla="*/ 3122451 w 3777444"/>
              <a:gd name="connsiteY14" fmla="*/ 527410 h 536451"/>
              <a:gd name="connsiteX15" fmla="*/ 3122451 w 3777444"/>
              <a:gd name="connsiteY15" fmla="*/ 99119 h 536451"/>
              <a:gd name="connsiteX16" fmla="*/ 2974777 w 3777444"/>
              <a:gd name="connsiteY16" fmla="*/ 99119 h 536451"/>
              <a:gd name="connsiteX17" fmla="*/ 2442307 w 3777444"/>
              <a:gd name="connsiteY17" fmla="*/ 8706 h 536451"/>
              <a:gd name="connsiteX18" fmla="*/ 2562857 w 3777444"/>
              <a:gd name="connsiteY18" fmla="*/ 8706 h 536451"/>
              <a:gd name="connsiteX19" fmla="*/ 2774491 w 3777444"/>
              <a:gd name="connsiteY19" fmla="*/ 334863 h 536451"/>
              <a:gd name="connsiteX20" fmla="*/ 2800276 w 3777444"/>
              <a:gd name="connsiteY20" fmla="*/ 376051 h 536451"/>
              <a:gd name="connsiteX21" fmla="*/ 2801950 w 3777444"/>
              <a:gd name="connsiteY21" fmla="*/ 376051 h 536451"/>
              <a:gd name="connsiteX22" fmla="*/ 2798601 w 3777444"/>
              <a:gd name="connsiteY22" fmla="*/ 304391 h 536451"/>
              <a:gd name="connsiteX23" fmla="*/ 2798601 w 3777444"/>
              <a:gd name="connsiteY23" fmla="*/ 8706 h 536451"/>
              <a:gd name="connsiteX24" fmla="*/ 2903413 w 3777444"/>
              <a:gd name="connsiteY24" fmla="*/ 8706 h 536451"/>
              <a:gd name="connsiteX25" fmla="*/ 2903413 w 3777444"/>
              <a:gd name="connsiteY25" fmla="*/ 527410 h 536451"/>
              <a:gd name="connsiteX26" fmla="*/ 2790230 w 3777444"/>
              <a:gd name="connsiteY26" fmla="*/ 527410 h 536451"/>
              <a:gd name="connsiteX27" fmla="*/ 2570559 w 3777444"/>
              <a:gd name="connsiteY27" fmla="*/ 191877 h 536451"/>
              <a:gd name="connsiteX28" fmla="*/ 2545779 w 3777444"/>
              <a:gd name="connsiteY28" fmla="*/ 149684 h 536451"/>
              <a:gd name="connsiteX29" fmla="*/ 2544105 w 3777444"/>
              <a:gd name="connsiteY29" fmla="*/ 149684 h 536451"/>
              <a:gd name="connsiteX30" fmla="*/ 2547119 w 3777444"/>
              <a:gd name="connsiteY30" fmla="*/ 232395 h 536451"/>
              <a:gd name="connsiteX31" fmla="*/ 2547119 w 3777444"/>
              <a:gd name="connsiteY31" fmla="*/ 527410 h 536451"/>
              <a:gd name="connsiteX32" fmla="*/ 2442307 w 3777444"/>
              <a:gd name="connsiteY32" fmla="*/ 527410 h 536451"/>
              <a:gd name="connsiteX33" fmla="*/ 2051782 w 3777444"/>
              <a:gd name="connsiteY33" fmla="*/ 8706 h 536451"/>
              <a:gd name="connsiteX34" fmla="*/ 2346796 w 3777444"/>
              <a:gd name="connsiteY34" fmla="*/ 8706 h 536451"/>
              <a:gd name="connsiteX35" fmla="*/ 2346796 w 3777444"/>
              <a:gd name="connsiteY35" fmla="*/ 99119 h 536451"/>
              <a:gd name="connsiteX36" fmla="*/ 2162287 w 3777444"/>
              <a:gd name="connsiteY36" fmla="*/ 99119 h 536451"/>
              <a:gd name="connsiteX37" fmla="*/ 2162287 w 3777444"/>
              <a:gd name="connsiteY37" fmla="*/ 221345 h 536451"/>
              <a:gd name="connsiteX38" fmla="*/ 2333737 w 3777444"/>
              <a:gd name="connsiteY38" fmla="*/ 221345 h 536451"/>
              <a:gd name="connsiteX39" fmla="*/ 2333737 w 3777444"/>
              <a:gd name="connsiteY39" fmla="*/ 311423 h 536451"/>
              <a:gd name="connsiteX40" fmla="*/ 2162287 w 3777444"/>
              <a:gd name="connsiteY40" fmla="*/ 311423 h 536451"/>
              <a:gd name="connsiteX41" fmla="*/ 2162287 w 3777444"/>
              <a:gd name="connsiteY41" fmla="*/ 436997 h 536451"/>
              <a:gd name="connsiteX42" fmla="*/ 2358851 w 3777444"/>
              <a:gd name="connsiteY42" fmla="*/ 436997 h 536451"/>
              <a:gd name="connsiteX43" fmla="*/ 2358851 w 3777444"/>
              <a:gd name="connsiteY43" fmla="*/ 527410 h 536451"/>
              <a:gd name="connsiteX44" fmla="*/ 2051782 w 3777444"/>
              <a:gd name="connsiteY44" fmla="*/ 527410 h 536451"/>
              <a:gd name="connsiteX45" fmla="*/ 1574602 w 3777444"/>
              <a:gd name="connsiteY45" fmla="*/ 8706 h 536451"/>
              <a:gd name="connsiteX46" fmla="*/ 1981126 w 3777444"/>
              <a:gd name="connsiteY46" fmla="*/ 8706 h 536451"/>
              <a:gd name="connsiteX47" fmla="*/ 1981126 w 3777444"/>
              <a:gd name="connsiteY47" fmla="*/ 99119 h 536451"/>
              <a:gd name="connsiteX48" fmla="*/ 1833116 w 3777444"/>
              <a:gd name="connsiteY48" fmla="*/ 99119 h 536451"/>
              <a:gd name="connsiteX49" fmla="*/ 1833116 w 3777444"/>
              <a:gd name="connsiteY49" fmla="*/ 527410 h 536451"/>
              <a:gd name="connsiteX50" fmla="*/ 1722276 w 3777444"/>
              <a:gd name="connsiteY50" fmla="*/ 527410 h 536451"/>
              <a:gd name="connsiteX51" fmla="*/ 1722276 w 3777444"/>
              <a:gd name="connsiteY51" fmla="*/ 99119 h 536451"/>
              <a:gd name="connsiteX52" fmla="*/ 1574602 w 3777444"/>
              <a:gd name="connsiteY52" fmla="*/ 99119 h 536451"/>
              <a:gd name="connsiteX53" fmla="*/ 1042132 w 3777444"/>
              <a:gd name="connsiteY53" fmla="*/ 8706 h 536451"/>
              <a:gd name="connsiteX54" fmla="*/ 1162683 w 3777444"/>
              <a:gd name="connsiteY54" fmla="*/ 8706 h 536451"/>
              <a:gd name="connsiteX55" fmla="*/ 1374316 w 3777444"/>
              <a:gd name="connsiteY55" fmla="*/ 334863 h 536451"/>
              <a:gd name="connsiteX56" fmla="*/ 1400101 w 3777444"/>
              <a:gd name="connsiteY56" fmla="*/ 376051 h 536451"/>
              <a:gd name="connsiteX57" fmla="*/ 1401775 w 3777444"/>
              <a:gd name="connsiteY57" fmla="*/ 376051 h 536451"/>
              <a:gd name="connsiteX58" fmla="*/ 1398426 w 3777444"/>
              <a:gd name="connsiteY58" fmla="*/ 304391 h 536451"/>
              <a:gd name="connsiteX59" fmla="*/ 1398426 w 3777444"/>
              <a:gd name="connsiteY59" fmla="*/ 8706 h 536451"/>
              <a:gd name="connsiteX60" fmla="*/ 1503239 w 3777444"/>
              <a:gd name="connsiteY60" fmla="*/ 8706 h 536451"/>
              <a:gd name="connsiteX61" fmla="*/ 1503239 w 3777444"/>
              <a:gd name="connsiteY61" fmla="*/ 527410 h 536451"/>
              <a:gd name="connsiteX62" fmla="*/ 1390055 w 3777444"/>
              <a:gd name="connsiteY62" fmla="*/ 527410 h 536451"/>
              <a:gd name="connsiteX63" fmla="*/ 1170384 w 3777444"/>
              <a:gd name="connsiteY63" fmla="*/ 191877 h 536451"/>
              <a:gd name="connsiteX64" fmla="*/ 1145605 w 3777444"/>
              <a:gd name="connsiteY64" fmla="*/ 149684 h 536451"/>
              <a:gd name="connsiteX65" fmla="*/ 1143930 w 3777444"/>
              <a:gd name="connsiteY65" fmla="*/ 149684 h 536451"/>
              <a:gd name="connsiteX66" fmla="*/ 1146944 w 3777444"/>
              <a:gd name="connsiteY66" fmla="*/ 232395 h 536451"/>
              <a:gd name="connsiteX67" fmla="*/ 1146944 w 3777444"/>
              <a:gd name="connsiteY67" fmla="*/ 527410 h 536451"/>
              <a:gd name="connsiteX68" fmla="*/ 1042132 w 3777444"/>
              <a:gd name="connsiteY68" fmla="*/ 527410 h 536451"/>
              <a:gd name="connsiteX69" fmla="*/ 3627090 w 3777444"/>
              <a:gd name="connsiteY69" fmla="*/ 0 h 536451"/>
              <a:gd name="connsiteX70" fmla="*/ 3754673 w 3777444"/>
              <a:gd name="connsiteY70" fmla="*/ 19757 h 536451"/>
              <a:gd name="connsiteX71" fmla="*/ 3754673 w 3777444"/>
              <a:gd name="connsiteY71" fmla="*/ 123564 h 536451"/>
              <a:gd name="connsiteX72" fmla="*/ 3632448 w 3777444"/>
              <a:gd name="connsiteY72" fmla="*/ 88069 h 536451"/>
              <a:gd name="connsiteX73" fmla="*/ 3567150 w 3777444"/>
              <a:gd name="connsiteY73" fmla="*/ 102970 h 536451"/>
              <a:gd name="connsiteX74" fmla="*/ 3542705 w 3777444"/>
              <a:gd name="connsiteY74" fmla="*/ 142987 h 536451"/>
              <a:gd name="connsiteX75" fmla="*/ 3559448 w 3777444"/>
              <a:gd name="connsiteY75" fmla="*/ 179989 h 536451"/>
              <a:gd name="connsiteX76" fmla="*/ 3642159 w 3777444"/>
              <a:gd name="connsiteY76" fmla="*/ 225698 h 536451"/>
              <a:gd name="connsiteX77" fmla="*/ 3748478 w 3777444"/>
              <a:gd name="connsiteY77" fmla="*/ 295684 h 536451"/>
              <a:gd name="connsiteX78" fmla="*/ 3777444 w 3777444"/>
              <a:gd name="connsiteY78" fmla="*/ 383418 h 536451"/>
              <a:gd name="connsiteX79" fmla="*/ 3724535 w 3777444"/>
              <a:gd name="connsiteY79" fmla="*/ 497272 h 536451"/>
              <a:gd name="connsiteX80" fmla="*/ 3574182 w 3777444"/>
              <a:gd name="connsiteY80" fmla="*/ 536451 h 536451"/>
              <a:gd name="connsiteX81" fmla="*/ 3428181 w 3777444"/>
              <a:gd name="connsiteY81" fmla="*/ 507653 h 536451"/>
              <a:gd name="connsiteX82" fmla="*/ 3428181 w 3777444"/>
              <a:gd name="connsiteY82" fmla="*/ 396813 h 536451"/>
              <a:gd name="connsiteX83" fmla="*/ 3570498 w 3777444"/>
              <a:gd name="connsiteY83" fmla="*/ 448717 h 536451"/>
              <a:gd name="connsiteX84" fmla="*/ 3638476 w 3777444"/>
              <a:gd name="connsiteY84" fmla="*/ 433146 h 536451"/>
              <a:gd name="connsiteX85" fmla="*/ 3661246 w 3777444"/>
              <a:gd name="connsiteY85" fmla="*/ 393129 h 536451"/>
              <a:gd name="connsiteX86" fmla="*/ 3643164 w 3777444"/>
              <a:gd name="connsiteY86" fmla="*/ 353281 h 536451"/>
              <a:gd name="connsiteX87" fmla="*/ 3547728 w 3777444"/>
              <a:gd name="connsiteY87" fmla="*/ 302381 h 536451"/>
              <a:gd name="connsiteX88" fmla="*/ 3426172 w 3777444"/>
              <a:gd name="connsiteY88" fmla="*/ 152363 h 536451"/>
              <a:gd name="connsiteX89" fmla="*/ 3481257 w 3777444"/>
              <a:gd name="connsiteY89" fmla="*/ 40016 h 536451"/>
              <a:gd name="connsiteX90" fmla="*/ 3627090 w 3777444"/>
              <a:gd name="connsiteY90" fmla="*/ 0 h 536451"/>
              <a:gd name="connsiteX91" fmla="*/ 706859 w 3777444"/>
              <a:gd name="connsiteY91" fmla="*/ 0 h 536451"/>
              <a:gd name="connsiteX92" fmla="*/ 885844 w 3777444"/>
              <a:gd name="connsiteY92" fmla="*/ 74005 h 536451"/>
              <a:gd name="connsiteX93" fmla="*/ 953653 w 3777444"/>
              <a:gd name="connsiteY93" fmla="*/ 264207 h 536451"/>
              <a:gd name="connsiteX94" fmla="*/ 883165 w 3777444"/>
              <a:gd name="connsiteY94" fmla="*/ 460939 h 536451"/>
              <a:gd name="connsiteX95" fmla="*/ 698488 w 3777444"/>
              <a:gd name="connsiteY95" fmla="*/ 536451 h 536451"/>
              <a:gd name="connsiteX96" fmla="*/ 517327 w 3777444"/>
              <a:gd name="connsiteY96" fmla="*/ 463283 h 536451"/>
              <a:gd name="connsiteX97" fmla="*/ 447675 w 3777444"/>
              <a:gd name="connsiteY97" fmla="*/ 274923 h 536451"/>
              <a:gd name="connsiteX98" fmla="*/ 518833 w 3777444"/>
              <a:gd name="connsiteY98" fmla="*/ 76516 h 536451"/>
              <a:gd name="connsiteX99" fmla="*/ 706859 w 3777444"/>
              <a:gd name="connsiteY99" fmla="*/ 0 h 536451"/>
              <a:gd name="connsiteX100" fmla="*/ 275258 w 3777444"/>
              <a:gd name="connsiteY100" fmla="*/ 0 h 536451"/>
              <a:gd name="connsiteX101" fmla="*/ 402506 w 3777444"/>
              <a:gd name="connsiteY101" fmla="*/ 19757 h 536451"/>
              <a:gd name="connsiteX102" fmla="*/ 402506 w 3777444"/>
              <a:gd name="connsiteY102" fmla="*/ 126578 h 536451"/>
              <a:gd name="connsiteX103" fmla="*/ 283294 w 3777444"/>
              <a:gd name="connsiteY103" fmla="*/ 95771 h 536451"/>
              <a:gd name="connsiteX104" fmla="*/ 161739 w 3777444"/>
              <a:gd name="connsiteY104" fmla="*/ 144326 h 536451"/>
              <a:gd name="connsiteX105" fmla="*/ 116198 w 3777444"/>
              <a:gd name="connsiteY105" fmla="*/ 271239 h 536451"/>
              <a:gd name="connsiteX106" fmla="*/ 159395 w 3777444"/>
              <a:gd name="connsiteY106" fmla="*/ 394134 h 536451"/>
              <a:gd name="connsiteX107" fmla="*/ 276262 w 3777444"/>
              <a:gd name="connsiteY107" fmla="*/ 440680 h 536451"/>
              <a:gd name="connsiteX108" fmla="*/ 402506 w 3777444"/>
              <a:gd name="connsiteY108" fmla="*/ 407194 h 536451"/>
              <a:gd name="connsiteX109" fmla="*/ 402506 w 3777444"/>
              <a:gd name="connsiteY109" fmla="*/ 508657 h 536451"/>
              <a:gd name="connsiteX110" fmla="*/ 254831 w 3777444"/>
              <a:gd name="connsiteY110" fmla="*/ 536451 h 536451"/>
              <a:gd name="connsiteX111" fmla="*/ 68814 w 3777444"/>
              <a:gd name="connsiteY111" fmla="*/ 466297 h 536451"/>
              <a:gd name="connsiteX112" fmla="*/ 0 w 3777444"/>
              <a:gd name="connsiteY112" fmla="*/ 279276 h 536451"/>
              <a:gd name="connsiteX113" fmla="*/ 76851 w 3777444"/>
              <a:gd name="connsiteY113" fmla="*/ 78190 h 536451"/>
              <a:gd name="connsiteX114" fmla="*/ 275258 w 3777444"/>
              <a:gd name="connsiteY114" fmla="*/ 0 h 53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777444" h="536451">
                <a:moveTo>
                  <a:pt x="703511" y="95771"/>
                </a:moveTo>
                <a:cubicBezTo>
                  <a:pt x="660202" y="95771"/>
                  <a:pt x="626101" y="111844"/>
                  <a:pt x="601210" y="143991"/>
                </a:cubicBezTo>
                <a:cubicBezTo>
                  <a:pt x="576318" y="176138"/>
                  <a:pt x="563873" y="217773"/>
                  <a:pt x="563873" y="268895"/>
                </a:cubicBezTo>
                <a:cubicBezTo>
                  <a:pt x="563873" y="319348"/>
                  <a:pt x="576039" y="360592"/>
                  <a:pt x="600373" y="392627"/>
                </a:cubicBezTo>
                <a:cubicBezTo>
                  <a:pt x="624706" y="424662"/>
                  <a:pt x="658081" y="440680"/>
                  <a:pt x="700497" y="440680"/>
                </a:cubicBezTo>
                <a:cubicBezTo>
                  <a:pt x="743806" y="440680"/>
                  <a:pt x="777515" y="425332"/>
                  <a:pt x="801625" y="394636"/>
                </a:cubicBezTo>
                <a:cubicBezTo>
                  <a:pt x="825736" y="363941"/>
                  <a:pt x="837791" y="322697"/>
                  <a:pt x="837791" y="270904"/>
                </a:cubicBezTo>
                <a:cubicBezTo>
                  <a:pt x="837791" y="216880"/>
                  <a:pt x="826071" y="174185"/>
                  <a:pt x="802630" y="142819"/>
                </a:cubicBezTo>
                <a:cubicBezTo>
                  <a:pt x="779190" y="111454"/>
                  <a:pt x="746150" y="95771"/>
                  <a:pt x="703511" y="95771"/>
                </a:cubicBezTo>
                <a:close/>
                <a:moveTo>
                  <a:pt x="2974777" y="8706"/>
                </a:moveTo>
                <a:lnTo>
                  <a:pt x="3381301" y="8706"/>
                </a:lnTo>
                <a:lnTo>
                  <a:pt x="3381301" y="99119"/>
                </a:lnTo>
                <a:lnTo>
                  <a:pt x="3233291" y="99119"/>
                </a:lnTo>
                <a:lnTo>
                  <a:pt x="3233291" y="527410"/>
                </a:lnTo>
                <a:lnTo>
                  <a:pt x="3122451" y="527410"/>
                </a:lnTo>
                <a:lnTo>
                  <a:pt x="3122451" y="99119"/>
                </a:lnTo>
                <a:lnTo>
                  <a:pt x="2974777" y="99119"/>
                </a:lnTo>
                <a:close/>
                <a:moveTo>
                  <a:pt x="2442307" y="8706"/>
                </a:moveTo>
                <a:lnTo>
                  <a:pt x="2562857" y="8706"/>
                </a:lnTo>
                <a:lnTo>
                  <a:pt x="2774491" y="334863"/>
                </a:lnTo>
                <a:cubicBezTo>
                  <a:pt x="2788555" y="356518"/>
                  <a:pt x="2797150" y="370247"/>
                  <a:pt x="2800276" y="376051"/>
                </a:cubicBezTo>
                <a:lnTo>
                  <a:pt x="2801950" y="376051"/>
                </a:lnTo>
                <a:cubicBezTo>
                  <a:pt x="2799717" y="363550"/>
                  <a:pt x="2798601" y="339663"/>
                  <a:pt x="2798601" y="304391"/>
                </a:cubicBezTo>
                <a:lnTo>
                  <a:pt x="2798601" y="8706"/>
                </a:lnTo>
                <a:lnTo>
                  <a:pt x="2903413" y="8706"/>
                </a:lnTo>
                <a:lnTo>
                  <a:pt x="2903413" y="527410"/>
                </a:lnTo>
                <a:lnTo>
                  <a:pt x="2790230" y="527410"/>
                </a:lnTo>
                <a:lnTo>
                  <a:pt x="2570559" y="191877"/>
                </a:lnTo>
                <a:cubicBezTo>
                  <a:pt x="2559174" y="174464"/>
                  <a:pt x="2550914" y="160399"/>
                  <a:pt x="2545779" y="149684"/>
                </a:cubicBezTo>
                <a:lnTo>
                  <a:pt x="2544105" y="149684"/>
                </a:lnTo>
                <a:cubicBezTo>
                  <a:pt x="2546114" y="167543"/>
                  <a:pt x="2547119" y="195114"/>
                  <a:pt x="2547119" y="232395"/>
                </a:cubicBezTo>
                <a:lnTo>
                  <a:pt x="2547119" y="527410"/>
                </a:lnTo>
                <a:lnTo>
                  <a:pt x="2442307" y="527410"/>
                </a:lnTo>
                <a:close/>
                <a:moveTo>
                  <a:pt x="2051782" y="8706"/>
                </a:moveTo>
                <a:lnTo>
                  <a:pt x="2346796" y="8706"/>
                </a:lnTo>
                <a:lnTo>
                  <a:pt x="2346796" y="99119"/>
                </a:lnTo>
                <a:lnTo>
                  <a:pt x="2162287" y="99119"/>
                </a:lnTo>
                <a:lnTo>
                  <a:pt x="2162287" y="221345"/>
                </a:lnTo>
                <a:lnTo>
                  <a:pt x="2333737" y="221345"/>
                </a:lnTo>
                <a:lnTo>
                  <a:pt x="2333737" y="311423"/>
                </a:lnTo>
                <a:lnTo>
                  <a:pt x="2162287" y="311423"/>
                </a:lnTo>
                <a:lnTo>
                  <a:pt x="2162287" y="436997"/>
                </a:lnTo>
                <a:lnTo>
                  <a:pt x="2358851" y="436997"/>
                </a:lnTo>
                <a:lnTo>
                  <a:pt x="2358851" y="527410"/>
                </a:lnTo>
                <a:lnTo>
                  <a:pt x="2051782" y="527410"/>
                </a:lnTo>
                <a:close/>
                <a:moveTo>
                  <a:pt x="1574602" y="8706"/>
                </a:moveTo>
                <a:lnTo>
                  <a:pt x="1981126" y="8706"/>
                </a:lnTo>
                <a:lnTo>
                  <a:pt x="1981126" y="99119"/>
                </a:lnTo>
                <a:lnTo>
                  <a:pt x="1833116" y="99119"/>
                </a:lnTo>
                <a:lnTo>
                  <a:pt x="1833116" y="527410"/>
                </a:lnTo>
                <a:lnTo>
                  <a:pt x="1722276" y="527410"/>
                </a:lnTo>
                <a:lnTo>
                  <a:pt x="1722276" y="99119"/>
                </a:lnTo>
                <a:lnTo>
                  <a:pt x="1574602" y="99119"/>
                </a:lnTo>
                <a:close/>
                <a:moveTo>
                  <a:pt x="1042132" y="8706"/>
                </a:moveTo>
                <a:lnTo>
                  <a:pt x="1162683" y="8706"/>
                </a:lnTo>
                <a:lnTo>
                  <a:pt x="1374316" y="334863"/>
                </a:lnTo>
                <a:cubicBezTo>
                  <a:pt x="1388380" y="356518"/>
                  <a:pt x="1396975" y="370247"/>
                  <a:pt x="1400101" y="376051"/>
                </a:cubicBezTo>
                <a:lnTo>
                  <a:pt x="1401775" y="376051"/>
                </a:lnTo>
                <a:cubicBezTo>
                  <a:pt x="1399543" y="363550"/>
                  <a:pt x="1398426" y="339663"/>
                  <a:pt x="1398426" y="304391"/>
                </a:cubicBezTo>
                <a:lnTo>
                  <a:pt x="1398426" y="8706"/>
                </a:lnTo>
                <a:lnTo>
                  <a:pt x="1503239" y="8706"/>
                </a:lnTo>
                <a:lnTo>
                  <a:pt x="1503239" y="527410"/>
                </a:lnTo>
                <a:lnTo>
                  <a:pt x="1390055" y="527410"/>
                </a:lnTo>
                <a:lnTo>
                  <a:pt x="1170384" y="191877"/>
                </a:lnTo>
                <a:cubicBezTo>
                  <a:pt x="1158999" y="174464"/>
                  <a:pt x="1150739" y="160399"/>
                  <a:pt x="1145605" y="149684"/>
                </a:cubicBezTo>
                <a:lnTo>
                  <a:pt x="1143930" y="149684"/>
                </a:lnTo>
                <a:cubicBezTo>
                  <a:pt x="1145939" y="167543"/>
                  <a:pt x="1146944" y="195114"/>
                  <a:pt x="1146944" y="232395"/>
                </a:cubicBezTo>
                <a:lnTo>
                  <a:pt x="1146944" y="527410"/>
                </a:lnTo>
                <a:lnTo>
                  <a:pt x="1042132" y="527410"/>
                </a:lnTo>
                <a:close/>
                <a:moveTo>
                  <a:pt x="3627090" y="0"/>
                </a:moveTo>
                <a:cubicBezTo>
                  <a:pt x="3677766" y="0"/>
                  <a:pt x="3720294" y="6586"/>
                  <a:pt x="3754673" y="19757"/>
                </a:cubicBezTo>
                <a:lnTo>
                  <a:pt x="3754673" y="123564"/>
                </a:lnTo>
                <a:cubicBezTo>
                  <a:pt x="3719847" y="99901"/>
                  <a:pt x="3679106" y="88069"/>
                  <a:pt x="3632448" y="88069"/>
                </a:cubicBezTo>
                <a:cubicBezTo>
                  <a:pt x="3605212" y="88069"/>
                  <a:pt x="3583446" y="93036"/>
                  <a:pt x="3567150" y="102970"/>
                </a:cubicBezTo>
                <a:cubicBezTo>
                  <a:pt x="3550853" y="112905"/>
                  <a:pt x="3542705" y="126243"/>
                  <a:pt x="3542705" y="142987"/>
                </a:cubicBezTo>
                <a:cubicBezTo>
                  <a:pt x="3542705" y="156381"/>
                  <a:pt x="3548286" y="168715"/>
                  <a:pt x="3559448" y="179989"/>
                </a:cubicBezTo>
                <a:cubicBezTo>
                  <a:pt x="3570610" y="191263"/>
                  <a:pt x="3598180" y="206499"/>
                  <a:pt x="3642159" y="225698"/>
                </a:cubicBezTo>
                <a:cubicBezTo>
                  <a:pt x="3693728" y="247799"/>
                  <a:pt x="3729168" y="271128"/>
                  <a:pt x="3748478" y="295684"/>
                </a:cubicBezTo>
                <a:cubicBezTo>
                  <a:pt x="3767789" y="320241"/>
                  <a:pt x="3777444" y="349486"/>
                  <a:pt x="3777444" y="383418"/>
                </a:cubicBezTo>
                <a:cubicBezTo>
                  <a:pt x="3777444" y="433201"/>
                  <a:pt x="3759808" y="471153"/>
                  <a:pt x="3724535" y="497272"/>
                </a:cubicBezTo>
                <a:cubicBezTo>
                  <a:pt x="3689263" y="523391"/>
                  <a:pt x="3639145" y="536451"/>
                  <a:pt x="3574182" y="536451"/>
                </a:cubicBezTo>
                <a:cubicBezTo>
                  <a:pt x="3514799" y="536451"/>
                  <a:pt x="3466133" y="526851"/>
                  <a:pt x="3428181" y="507653"/>
                </a:cubicBezTo>
                <a:lnTo>
                  <a:pt x="3428181" y="396813"/>
                </a:lnTo>
                <a:cubicBezTo>
                  <a:pt x="3469928" y="431415"/>
                  <a:pt x="3517367" y="448717"/>
                  <a:pt x="3570498" y="448717"/>
                </a:cubicBezTo>
                <a:cubicBezTo>
                  <a:pt x="3600636" y="448717"/>
                  <a:pt x="3623295" y="443526"/>
                  <a:pt x="3638476" y="433146"/>
                </a:cubicBezTo>
                <a:cubicBezTo>
                  <a:pt x="3653656" y="422765"/>
                  <a:pt x="3661246" y="409426"/>
                  <a:pt x="3661246" y="393129"/>
                </a:cubicBezTo>
                <a:cubicBezTo>
                  <a:pt x="3661246" y="379065"/>
                  <a:pt x="3655219" y="365782"/>
                  <a:pt x="3643164" y="353281"/>
                </a:cubicBezTo>
                <a:cubicBezTo>
                  <a:pt x="3631109" y="340779"/>
                  <a:pt x="3599297" y="323813"/>
                  <a:pt x="3547728" y="302381"/>
                </a:cubicBezTo>
                <a:cubicBezTo>
                  <a:pt x="3466691" y="268002"/>
                  <a:pt x="3426172" y="217996"/>
                  <a:pt x="3426172" y="152363"/>
                </a:cubicBezTo>
                <a:cubicBezTo>
                  <a:pt x="3426172" y="104142"/>
                  <a:pt x="3444534" y="66694"/>
                  <a:pt x="3481257" y="40016"/>
                </a:cubicBezTo>
                <a:cubicBezTo>
                  <a:pt x="3517981" y="13339"/>
                  <a:pt x="3566592" y="0"/>
                  <a:pt x="3627090" y="0"/>
                </a:cubicBezTo>
                <a:close/>
                <a:moveTo>
                  <a:pt x="706859" y="0"/>
                </a:moveTo>
                <a:cubicBezTo>
                  <a:pt x="780976" y="0"/>
                  <a:pt x="840637" y="24668"/>
                  <a:pt x="885844" y="74005"/>
                </a:cubicBezTo>
                <a:cubicBezTo>
                  <a:pt x="931050" y="123341"/>
                  <a:pt x="953653" y="186742"/>
                  <a:pt x="953653" y="264207"/>
                </a:cubicBezTo>
                <a:cubicBezTo>
                  <a:pt x="953653" y="345021"/>
                  <a:pt x="930157" y="410598"/>
                  <a:pt x="883165" y="460939"/>
                </a:cubicBezTo>
                <a:cubicBezTo>
                  <a:pt x="836172" y="511280"/>
                  <a:pt x="774613" y="536451"/>
                  <a:pt x="698488" y="536451"/>
                </a:cubicBezTo>
                <a:cubicBezTo>
                  <a:pt x="624148" y="536451"/>
                  <a:pt x="563761" y="512062"/>
                  <a:pt x="517327" y="463283"/>
                </a:cubicBezTo>
                <a:cubicBezTo>
                  <a:pt x="470892" y="414505"/>
                  <a:pt x="447675" y="351718"/>
                  <a:pt x="447675" y="274923"/>
                </a:cubicBezTo>
                <a:cubicBezTo>
                  <a:pt x="447675" y="193663"/>
                  <a:pt x="471394" y="127527"/>
                  <a:pt x="518833" y="76516"/>
                </a:cubicBezTo>
                <a:cubicBezTo>
                  <a:pt x="566272" y="25505"/>
                  <a:pt x="628948" y="0"/>
                  <a:pt x="706859" y="0"/>
                </a:cubicBezTo>
                <a:close/>
                <a:moveTo>
                  <a:pt x="275258" y="0"/>
                </a:moveTo>
                <a:cubicBezTo>
                  <a:pt x="325934" y="0"/>
                  <a:pt x="368350" y="6586"/>
                  <a:pt x="402506" y="19757"/>
                </a:cubicBezTo>
                <a:lnTo>
                  <a:pt x="402506" y="126578"/>
                </a:lnTo>
                <a:cubicBezTo>
                  <a:pt x="367457" y="106040"/>
                  <a:pt x="327720" y="95771"/>
                  <a:pt x="283294" y="95771"/>
                </a:cubicBezTo>
                <a:cubicBezTo>
                  <a:pt x="232618" y="95771"/>
                  <a:pt x="192100" y="111956"/>
                  <a:pt x="161739" y="144326"/>
                </a:cubicBezTo>
                <a:cubicBezTo>
                  <a:pt x="131378" y="176696"/>
                  <a:pt x="116198" y="219001"/>
                  <a:pt x="116198" y="271239"/>
                </a:cubicBezTo>
                <a:cubicBezTo>
                  <a:pt x="116198" y="322138"/>
                  <a:pt x="130597" y="363103"/>
                  <a:pt x="159395" y="394134"/>
                </a:cubicBezTo>
                <a:cubicBezTo>
                  <a:pt x="188193" y="425165"/>
                  <a:pt x="227149" y="440680"/>
                  <a:pt x="276262" y="440680"/>
                </a:cubicBezTo>
                <a:cubicBezTo>
                  <a:pt x="322473" y="440680"/>
                  <a:pt x="364554" y="429518"/>
                  <a:pt x="402506" y="407194"/>
                </a:cubicBezTo>
                <a:lnTo>
                  <a:pt x="402506" y="508657"/>
                </a:lnTo>
                <a:cubicBezTo>
                  <a:pt x="364778" y="527186"/>
                  <a:pt x="315553" y="536451"/>
                  <a:pt x="254831" y="536451"/>
                </a:cubicBezTo>
                <a:cubicBezTo>
                  <a:pt x="176696" y="536451"/>
                  <a:pt x="114691" y="513066"/>
                  <a:pt x="68814" y="466297"/>
                </a:cubicBezTo>
                <a:cubicBezTo>
                  <a:pt x="22938" y="419528"/>
                  <a:pt x="0" y="357187"/>
                  <a:pt x="0" y="279276"/>
                </a:cubicBezTo>
                <a:cubicBezTo>
                  <a:pt x="0" y="197346"/>
                  <a:pt x="25617" y="130318"/>
                  <a:pt x="76851" y="78190"/>
                </a:cubicBezTo>
                <a:cubicBezTo>
                  <a:pt x="128085" y="26063"/>
                  <a:pt x="194221" y="0"/>
                  <a:pt x="275258" y="0"/>
                </a:cubicBezTo>
                <a:close/>
              </a:path>
            </a:pathLst>
          </a:custGeom>
          <a:noFill/>
          <a:ln w="15875">
            <a:solidFill>
              <a:schemeClr val="accent1">
                <a:alpha val="70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b="1">
              <a:ln w="15875">
                <a:solidFill>
                  <a:schemeClr val="tx1">
                    <a:alpha val="25000"/>
                  </a:schemeClr>
                </a:solidFill>
              </a:ln>
              <a:noFill/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/>
          <a:lstStyle/>
          <a:p>
            <a:r>
              <a:rPr lang="en-US" altLang="zh-CN"/>
              <a:t>01 挑战与核心洞察</a:t>
            </a:r>
            <a:endParaRPr lang="en-US" altLang="zh-CN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22070"/>
            <a:ext cx="5287010" cy="4853305"/>
          </a:xfrm>
        </p:spPr>
        <p:txBody>
          <a:bodyPr>
            <a:normAutofit/>
          </a:bodyPr>
          <a:lstStyle/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痛点：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“知识孤岛：机械、算法、软件信息割裂”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“新人上手难：没有清晰路径理解系统”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“文档混乱：类型多样，缺乏统一逻辑”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正文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79185" y="1322070"/>
            <a:ext cx="5287010" cy="485330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核心洞察：</a:t>
            </a:r>
            <a:endParaRPr lang="zh-CN" altLang="en-US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结论：“机器人文档的本质，是对 ‘感知-决策-执行’智能闭环 的描述。抓住此核心，即可建立清晰、可扩展的文档体系。”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17030" y="4082415"/>
            <a:ext cx="3775075" cy="6832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/>
          <a:lstStyle/>
          <a:p>
            <a:r>
              <a:rPr lang="en-US" altLang="zh-CN"/>
              <a:t>02 解决方案总览</a:t>
            </a:r>
            <a:endParaRPr lang="en-US" altLang="zh-CN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>
            <a:normAutofit lnSpcReduction="20000"/>
          </a:bodyPr>
          <a:lstStyle/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</a:rPr>
              <a:t>一套分层、分类的“元框架”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pPr lvl="1"/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  <a:sym typeface="+mn-ea"/>
            </a:endParaRPr>
          </a:p>
          <a:p>
            <a:pPr lvl="1"/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第一层：按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目的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选逻辑（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说服性框架 / 操作框架 / 诊断框架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）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pPr lvl="1"/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pPr lvl="1"/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第二层：按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场景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用模型（80%用“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运行闭环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”或“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底层支撑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”；20%用四大专用模型：对比、故障树、合规、迭代）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pPr lvl="1"/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pPr lvl="1"/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第三层：按</a:t>
            </a:r>
            <a:r>
              <a:rPr lang="zh-CN" altLang="en-US" sz="24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受众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  <a:sym typeface="+mn-ea"/>
              </a:rPr>
              <a:t>定术语（基础→进阶→高级，三层术语体系）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  <a:sym typeface="+mn-ea"/>
            </a:endParaRPr>
          </a:p>
          <a:p>
            <a:pPr marL="332105" lvl="1" indent="0">
              <a:buNone/>
            </a:pP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+mn-lt"/>
              <a:cs typeface="+mn-lt"/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n-lt"/>
                <a:cs typeface="+mn-lt"/>
              </a:rPr>
              <a:t>“这不仅是文档模板，更是确保团队在同一逻辑层面高效协作的思维工具。”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/>
          <a:lstStyle/>
          <a:p>
            <a:r>
              <a:rPr lang="en-US" altLang="zh-CN"/>
              <a:t>03 </a:t>
            </a:r>
            <a:r>
              <a:rPr lang="zh-CN" altLang="en-US" spc="300" dirty="0">
                <a:latin typeface="+mn-ea"/>
                <a:sym typeface="+mn-ea"/>
              </a:rPr>
              <a:t>核心武器：术语分层定义体系</a:t>
            </a:r>
            <a:endParaRPr lang="en-US" altLang="zh-CN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>
            <a:normAutofit fontScale="90000" lnSpcReduction="20000"/>
          </a:bodyPr>
          <a:lstStyle/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终结术语混淆——从新人到专家的一致理解路径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图A（基础）：机器人技术逻辑闭环框架标注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图B（进阶）：ROS2核心架构图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图C（高级）：ROS2节点数据流图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结论：“通过这三层从宏观到微观的架构图，可以系统地锚定和关联所有技术术语，极大降低沟通成本。”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55485" y="1978660"/>
            <a:ext cx="892175" cy="700405"/>
          </a:xfrm>
          <a:prstGeom prst="rect">
            <a:avLst/>
          </a:prstGeom>
        </p:spPr>
      </p:pic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>
          <a:xfrm>
            <a:off x="6948805" y="2679065"/>
            <a:ext cx="1204595" cy="39306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全局观</a:t>
            </a:r>
            <a:endParaRPr lang="zh-CN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署名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948805" y="3741420"/>
            <a:ext cx="1204595" cy="39306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署名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99275" y="4803775"/>
            <a:ext cx="1204595" cy="39306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实现观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771005" y="3215640"/>
            <a:ext cx="1560195" cy="525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098030" y="4232275"/>
            <a:ext cx="906145" cy="61277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/>
          <a:lstStyle/>
          <a:p>
            <a:r>
              <a:rPr lang="en-US" altLang="zh-CN"/>
              <a:t>04 与灵巧手项目的关联</a:t>
            </a:r>
            <a:endParaRPr lang="en-US" altLang="zh-CN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22070"/>
            <a:ext cx="10991850" cy="4853305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三个具体设想：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项目管理：用“运行闭环”逻辑规划里程碑评审会，确保各模块（感知、控制、执行）对齐。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知识沉淀：为每个核心模块建立“知识卡”（基于框架），形成团队可迭代的资产。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高效协同：推行“结构化同步会”（基于框架），将信息同步从会议中提前，会议聚焦决策。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价值：我带来的不仅是一份劳动力，更是一套能够提升团队确定性与知识传承效率的‘操作系统’。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959985" y="1652905"/>
            <a:ext cx="6568440" cy="1567180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5850" y="3675380"/>
            <a:ext cx="6696710" cy="860425"/>
          </a:xfrm>
        </p:spPr>
        <p:txBody>
          <a:bodyPr>
            <a:normAutofit/>
          </a:bodyPr>
          <a:lstStyle/>
          <a:p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详细框架论述与案例，请参见随附的《完整白皮书》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https://bit.ly/45ETkir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联系方式"/>
          <p:cNvSpPr>
            <a:spLocks noGrp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8219870" y="5616000"/>
            <a:ext cx="2566800" cy="655491"/>
          </a:xfrm>
        </p:spPr>
        <p:txBody>
          <a:bodyPr>
            <a:normAutofit fontScale="80000"/>
          </a:bodyPr>
          <a:lstStyle/>
          <a:p>
            <a:r>
              <a:rPr lang="zh-CN" altLang="en-US" b="1"/>
              <a:t>电话：</a:t>
            </a:r>
            <a:r>
              <a:rPr lang="en-US" altLang="zh-CN" b="1"/>
              <a:t>18879572768</a:t>
            </a:r>
            <a:br>
              <a:rPr lang="en-US" altLang="zh-CN" b="1"/>
            </a:br>
            <a:r>
              <a:rPr lang="en-US" altLang="zh-CN" b="1"/>
              <a:t>qq</a:t>
            </a:r>
            <a:r>
              <a:rPr lang="zh-CN" altLang="en-US" b="1"/>
              <a:t>：</a:t>
            </a:r>
            <a:r>
              <a:rPr lang="en-US" altLang="zh-CN" b="1"/>
              <a:t>578649772@qq.com</a:t>
            </a:r>
            <a:endParaRPr lang="en-US" altLang="zh-CN" b="1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5793470" y="5616000"/>
            <a:ext cx="2163600" cy="655491"/>
          </a:xfrm>
        </p:spPr>
        <p:txBody>
          <a:bodyPr/>
          <a:lstStyle/>
          <a:p>
            <a:r>
              <a:rPr lang="en-US" altLang="zh-CN" b="1"/>
              <a:t>汇报人：</a:t>
            </a:r>
            <a:r>
              <a:rPr lang="zh-CN" altLang="en-US" b="1"/>
              <a:t>刘世美</a:t>
            </a:r>
            <a:endParaRPr lang="zh-CN" altLang="en-US" b="1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3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6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6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94"/>
</p:tagLst>
</file>

<file path=ppt/tags/tag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94"/>
</p:tagLst>
</file>

<file path=ppt/tags/tag7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894"/>
  <p:tag name="KSO_WM_TEMPLATE_CATEGORY" val="custom"/>
  <p:tag name="KSO_WM_TEMPLATE_MASTER_TYP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&#10;添加文档标题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 WPS,a click to unlimited possibilities"/>
</p:tagLst>
</file>

<file path=ppt/tags/tag7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78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"/>
  <p:tag name="KSO_WM_TAG_VERSION" val="3.0"/>
  <p:tag name="KSO_WM_UNIT_ID" val="custom20235894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7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894"/>
  <p:tag name="KSO_WM_TEMPLATE_CATEGORY" val="custom"/>
  <p:tag name="KSO_WM_SLIDE_INDEX" val="1"/>
  <p:tag name="KSO_WM_SLIDE_ID" val="custom20235894_1"/>
  <p:tag name="KSO_WM_TEMPLATE_MASTER_TYPE" val="0"/>
  <p:tag name="KSO_WM_SLIDE_LAYOUT" val="a_b_f"/>
  <p:tag name="KSO_WM_SLIDE_LAYOUT_CNT" val="1_1_2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5894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81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2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width&quot;:450.1417236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894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90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894"/>
  <p:tag name="KSO_WM_TEMPLATE_CATEGORY" val="custom"/>
  <p:tag name="KSO_WM_SLIDE_INDEX" val="4"/>
  <p:tag name="KSO_WM_SLIDE_ID" val="custom20235894_4"/>
  <p:tag name="KSO_WM_TEMPLATE_MASTER_TYPE" val="0"/>
  <p:tag name="KSO_WM_SLIDE_LAYOUT" val="a_l"/>
  <p:tag name="KSO_WM_SLIDE_LAYOUT_CNT" val="1_1"/>
  <p:tag name="KSO_WM_SLIDE_DIAGTYPE" val="l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9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9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98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10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0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0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110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13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ID" val="custom20235894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94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15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9"/>
  <p:tag name="KSO_WM_SLIDE_ID" val="custom20235894_9"/>
  <p:tag name="KSO_WM_TEMPLATE_MASTER_TYPE" val="0"/>
  <p:tag name="KSO_WM_SLIDE_LAYOUT" val="a_b_f"/>
  <p:tag name="KSO_WM_SLIDE_LAYOUT_CNT" val="1_1_2"/>
</p:tagLst>
</file>

<file path=ppt/tags/tag116.xml><?xml version="1.0" encoding="utf-8"?>
<p:tagLst xmlns:p="http://schemas.openxmlformats.org/presentationml/2006/main">
  <p:tag name="COMMONDATA" val="eyJoZGlkIjoiYWNlODEyNTNiZDQ3MjQ0NmY3YjE0ZDg1M2FjNGU2ODIifQ=="/>
  <p:tag name="commondata" val="eyJoZGlkIjoiNWQ0NmRmMGJjNDBjMmJjODVmZmNiMTBmODQzZGRhZDAifQ=="/>
</p:tagLst>
</file>

<file path=ppt/theme/theme1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WPS 演示</Application>
  <PresentationFormat>宽屏</PresentationFormat>
  <Paragraphs>95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等线</vt:lpstr>
      <vt:lpstr>Calibri</vt:lpstr>
      <vt:lpstr>城市线条职场办公商务风</vt:lpstr>
      <vt:lpstr>单击此处 添加文档标题</vt:lpstr>
      <vt:lpstr>目录</vt:lpstr>
      <vt:lpstr>单击此处添加标题</vt:lpstr>
      <vt:lpstr>单击此处添加标题</vt:lpstr>
      <vt:lpstr>单击此处添加标题</vt:lpstr>
      <vt:lpstr>01 挑战与核心洞察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单击此处添加文档标题</dc:title>
  <dc:creator>O365</dc:creator>
  <cp:lastModifiedBy>LSM</cp:lastModifiedBy>
  <cp:revision>155</cp:revision>
  <dcterms:created xsi:type="dcterms:W3CDTF">2023-07-18T08:08:00Z</dcterms:created>
  <dcterms:modified xsi:type="dcterms:W3CDTF">2026-01-10T08:49:01Z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1D9BF6F5C6B548D3BEFC6E1092D7BDB2_11</vt:lpwstr>
  </property>
  <property fmtid="{D5CDD505-2E9C-101B-9397-08002B2CF9AE}" pid="3" name="KSOProductBuildVer">
    <vt:lpwstr>2052-12.1.0.15990</vt:lpwstr>
  </property>
</Properties>
</file>